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4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8442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274320"/>
            <a:ext cx="9034272" cy="36576"/>
          </a:xfrm>
          <a:prstGeom prst="rect">
            <a:avLst/>
          </a:prstGeom>
          <a:solidFill>
            <a:srgbClr val="21D4FD"/>
          </a:solidFill>
          <a:ln w="12700">
            <a:solidFill>
              <a:srgbClr val="21D4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2296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ANÁLISIS DE DATOS · TALLER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Performance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1D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Exams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factores asociados al rendimiento académico estudiantil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2743200" cy="36576"/>
          </a:xfrm>
          <a:prstGeom prst="rect">
            <a:avLst/>
          </a:prstGeom>
          <a:solidFill>
            <a:srgbClr val="5A7A90"/>
          </a:solidFill>
          <a:ln w="12700">
            <a:solidFill>
              <a:srgbClr val="5A7A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1: Comprensión del Problema  </a:t>
            </a:r>
            <a:r>
              <a:rPr lang="en-US" sz="11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110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2: Hipótesis  </a:t>
            </a:r>
            <a:r>
              <a:rPr lang="en-US" sz="11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110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4: KPIs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D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COMPRENSIÓN DEL PROBLEMA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Dataset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3474720"/>
          </a:xfrm>
          <a:prstGeom prst="rect">
            <a:avLst/>
          </a:prstGeom>
          <a:solidFill>
            <a:srgbClr val="F0F8FF"/>
          </a:solidFill>
          <a:ln w="12700">
            <a:solidFill>
              <a:srgbClr val="D8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Dataset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dataset contiene información de rendimiento académico de estudiantes en exámenes, medida a través de los puntajes de matemáticas, lectura y escritura.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incluye variables demográficas como género, grupo étnico, nivel educativo de los padres, tipo de almuerzo y si completó un curso de preparación para exámenes.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propósito es estudiar cómo estos factores influyen en los resultados académicos.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Clave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508760"/>
            <a:ext cx="54864" cy="5303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54533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score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7556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matemáticas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130552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130552"/>
            <a:ext cx="54864" cy="5303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16712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score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3774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lectura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752344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752344"/>
            <a:ext cx="54864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7889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score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9992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escritura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374136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374136"/>
            <a:ext cx="54864" cy="53035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41071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prep course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6210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preparación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995928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995928"/>
            <a:ext cx="54864" cy="530352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403250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education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424281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educativo padres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D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FORMULACIÓN DEL PROBLEMA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Preguntas Clave de Análisis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88720"/>
            <a:ext cx="731520" cy="7315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09728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curso de preparación mejora los puntajes?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8132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¿Existe relación entre haber realizado el curso de preparación y obtener mejores puntajes en matemáticas, lectura y escritura?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42316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33172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nivel educativo de los padres influye?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71576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varía el desempeño académico según el nivel educativo de los padres?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347472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65760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657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56616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¿Existen brechas entre grupos de estudiantes?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95020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¿Existen diferencias de rendimiento entre grupos según género, tipo de almuerzo o grupo étnico?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HIPÓTESIS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Curso de Preparación y el Rendimiento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23360" cy="1234440"/>
          </a:xfrm>
          <a:prstGeom prst="rect">
            <a:avLst/>
          </a:prstGeom>
          <a:solidFill>
            <a:srgbClr val="FFF8E1"/>
          </a:solidFill>
          <a:ln w="12700">
            <a:solidFill>
              <a:srgbClr val="F4C4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1234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— Hipótesis Nula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existen diferencias significativas en el puntaje promedio entre estudiantes que completaron el curso y los que no lo completaron.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4023360" cy="12344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64008" cy="12344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— Hipótesis Alternativa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138988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existen diferencias significativas en el puntaje promedio entre estudiantes que completaron el curso y los que no lo completaron.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423160"/>
            <a:ext cx="8595360" cy="594360"/>
          </a:xfrm>
          <a:prstGeom prst="rect">
            <a:avLst/>
          </a:prstGeom>
          <a:solidFill>
            <a:srgbClr val="EAF4FB"/>
          </a:solidFill>
          <a:ln w="12700">
            <a:solidFill>
              <a:srgbClr val="C5E0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50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independiente: </a:t>
            </a:r>
            <a:r>
              <a:rPr lang="en-US" sz="1200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preparation course    </a:t>
            </a:r>
            <a:r>
              <a:rPr lang="en-US" sz="12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Variable dependiente: </a:t>
            </a:r>
            <a:r>
              <a:rPr lang="en-US" sz="1200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 (math + reading + writing) /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3090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Estadístico &amp; Resultados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56432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493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grupo completed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08960" y="34930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72.67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3858768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8953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grupo none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08960" y="38953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65.04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4261104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297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t-test (estadístico)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108960" y="4297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8.59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3456432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3493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p-valor (t-test)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0" y="34930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4.43e-17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858768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38953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U (p-valor)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98080" y="38953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6.20e-16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63440" y="4261104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4297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 (tamaño efecto)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98080" y="4297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74320" y="4709160"/>
            <a:ext cx="8595360" cy="320040"/>
          </a:xfrm>
          <a:prstGeom prst="roundRect">
            <a:avLst>
              <a:gd name="adj" fmla="val 14286"/>
            </a:avLst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 RECHAZA H₀ — p-valor &lt;&lt; 0.05. El curso de preparación está asociado con mejores resultados académicos.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5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HIPÓTESIS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Educativo de los Padres y el Desempeño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23360" cy="1188720"/>
          </a:xfrm>
          <a:prstGeom prst="rect">
            <a:avLst/>
          </a:prstGeom>
          <a:solidFill>
            <a:srgbClr val="FFF8E1"/>
          </a:solidFill>
          <a:ln w="12700">
            <a:solidFill>
              <a:srgbClr val="F4C4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118872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607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— Hipótesis Nula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existen diferencias significativas en el puntaje promedio entre los distintos niveles educativos de los padres.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4023360" cy="118872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64008" cy="1188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0607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— Hipótesis Alternativa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13898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existen diferencias significativas en el puntaje promedio entre los distintos niveles educativos de los padres.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4320" y="234086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por nivel educativo de los padres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26974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0" y="2734056"/>
            <a:ext cx="3606165" cy="21945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0685" y="26974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30220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High Sch.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0" y="3058668"/>
            <a:ext cx="3721037" cy="21945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95557" y="30220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33467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College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0" y="3383280"/>
            <a:ext cx="3913632" cy="21945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88152" y="33467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36713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Associate's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0" y="3707892"/>
            <a:ext cx="3975925" cy="21945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0445" y="367131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39959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Bachelor's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0" y="4032504"/>
            <a:ext cx="4110228" cy="21945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4748" y="39959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71.9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3205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828800" y="4357116"/>
            <a:ext cx="4206240" cy="21945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43205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32320" y="234086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Estadísticos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49440" y="2724912"/>
            <a:ext cx="1920240" cy="457200"/>
          </a:xfrm>
          <a:prstGeom prst="rect">
            <a:avLst/>
          </a:prstGeom>
          <a:solidFill>
            <a:srgbClr val="EAF4FB"/>
          </a:solidFill>
          <a:ln w="12700">
            <a:solidFill>
              <a:srgbClr val="C5E0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0" y="27523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F-stat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040880" y="2944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949440" y="3255264"/>
            <a:ext cx="1920240" cy="457200"/>
          </a:xfrm>
          <a:prstGeom prst="rect">
            <a:avLst/>
          </a:prstGeom>
          <a:solidFill>
            <a:srgbClr val="EAF4FB"/>
          </a:solidFill>
          <a:ln w="12700">
            <a:solidFill>
              <a:srgbClr val="C5E0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0" y="32826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p-valor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040880" y="3474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4.38e-10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949440" y="3785616"/>
            <a:ext cx="1920240" cy="457200"/>
          </a:xfrm>
          <a:prstGeom prst="rect">
            <a:avLst/>
          </a:prstGeom>
          <a:solidFill>
            <a:srgbClr val="EAF4FB"/>
          </a:solidFill>
          <a:ln w="12700">
            <a:solidFill>
              <a:srgbClr val="C5E0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38130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Levene p-valor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040880" y="4005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949440" y="4315968"/>
            <a:ext cx="1920240" cy="457200"/>
          </a:xfrm>
          <a:prstGeom prst="rect">
            <a:avLst/>
          </a:prstGeom>
          <a:solidFill>
            <a:srgbClr val="EAF4FB"/>
          </a:solidFill>
          <a:ln w="12700">
            <a:solidFill>
              <a:srgbClr val="C5E0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40880" y="4343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 p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040880" y="45354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1.65e-08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74320" y="4663440"/>
            <a:ext cx="8595360" cy="347472"/>
          </a:xfrm>
          <a:prstGeom prst="roundRect">
            <a:avLst>
              <a:gd name="adj" fmla="val 13158"/>
            </a:avLst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 RECHAZA H₀ — A mayor nivel educativo de los padres, mayor tiende a ser el puntaje promedio del estudiante.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D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· KPIs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Clave de Rendimiento (1 - 2)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1691640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73152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15568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481328" y="109728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General de Rendimiento Académico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508760"/>
            <a:ext cx="8229600" cy="402336"/>
          </a:xfrm>
          <a:prstGeom prst="rect">
            <a:avLst/>
          </a:prstGeom>
          <a:solidFill>
            <a:srgbClr val="065A82">
              <a:alpha val="12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361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promedio = (mat + lec + esc) / 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01168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dependiente principal usada en ambas hipótesis. Un valor alto indica buen desempeño; uno bajo puede requerir intervención académica.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8595360" cy="1691640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926080"/>
            <a:ext cx="73152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035808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358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481328" y="301752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del Curso de Preparación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429000"/>
            <a:ext cx="8229600" cy="402336"/>
          </a:xfrm>
          <a:prstGeom prst="rect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564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= Promedio_completed − Promedio_none = 72.67 − 65.04 = 7.63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931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si la intervención tiene efecto real. Un valor cercano a cero indica que el curso no genera impacto significativo. Directamente relacionado con Hipótesis 1.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1D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· KPIs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Clave de Rendimiento (3 - 5)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1188720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7315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97280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481328" y="1078992"/>
            <a:ext cx="7132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por Nivel Educativo de los Padres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435608"/>
            <a:ext cx="8229600" cy="329184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45389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Rendimiento_g = Σ(mat_i + lec_i + esc_i) / (3 × n_g)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828800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brechas entre grupos familiares. Un incremento del promedio con el nivel educativo sugiere relación positiva. Directamente relacionado con Hipótesis 2.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8595360" cy="1188720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31720"/>
            <a:ext cx="73152" cy="1188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423160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231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481328" y="2404872"/>
            <a:ext cx="7132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de Rendimiento entre Grupos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2761488"/>
            <a:ext cx="8229600" cy="329184"/>
          </a:xfrm>
          <a:prstGeom prst="rect">
            <a:avLst/>
          </a:prstGeom>
          <a:solidFill>
            <a:srgbClr val="E07B39">
              <a:alpha val="10000"/>
            </a:srgbClr>
          </a:solidFill>
          <a:ln w="12700">
            <a:solidFill>
              <a:srgbClr val="E07B39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77977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= Promedio_Grupo_A − Promedio_Grupo_B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154680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desigualdades por género, tipo de almuerzo o grupo étnico. Brecha alta = desigualdad significativa. Brecha ≈ 0 = comportamiento homogéneo.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657600"/>
            <a:ext cx="8595360" cy="1188720"/>
          </a:xfrm>
          <a:prstGeom prst="rect">
            <a:avLst/>
          </a:prstGeom>
          <a:solidFill>
            <a:srgbClr val="F0F8FF"/>
          </a:solidFill>
          <a:ln w="1270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57600"/>
            <a:ext cx="73152" cy="118872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749040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749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5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481328" y="3730752"/>
            <a:ext cx="7132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 de Estudiantes con Bajo Rendimiento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4087368"/>
            <a:ext cx="8229600" cy="329184"/>
          </a:xfrm>
          <a:prstGeom prst="rect">
            <a:avLst/>
          </a:prstGeom>
          <a:solidFill>
            <a:srgbClr val="7C5CBF">
              <a:alpha val="10000"/>
            </a:srgbClr>
          </a:solidFill>
          <a:ln w="12700">
            <a:solidFill>
              <a:srgbClr val="7C5CBF">
                <a:alpha val="2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1056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Bajo rend. = (N° estudiantes con promedio &lt; umbral) / Total × 100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480560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proporción de estudiantes en riesgo académico. Permite diseñar estrategias de apoyo y evaluar el impacto de intervenciones académicas.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274320"/>
            <a:ext cx="2560320" cy="2560320"/>
          </a:xfrm>
          <a:prstGeom prst="ellipse">
            <a:avLst/>
          </a:prstGeom>
          <a:solidFill>
            <a:srgbClr val="065A82">
              <a:alpha val="35000"/>
            </a:srgbClr>
          </a:solidFill>
          <a:ln w="12700">
            <a:solidFill>
              <a:srgbClr val="065A82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1828800" cy="1828800"/>
          </a:xfrm>
          <a:prstGeom prst="ellipse">
            <a:avLst/>
          </a:prstGeom>
          <a:solidFill>
            <a:srgbClr val="1C7293">
              <a:alpha val="28000"/>
            </a:srgbClr>
          </a:solidFill>
          <a:ln w="12700">
            <a:solidFill>
              <a:srgbClr val="1C7293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21D4FD"/>
          </a:solidFill>
          <a:ln w="12700">
            <a:solidFill>
              <a:srgbClr val="21D4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859536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640080" cy="6400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70432" y="109728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curso de preparación tiene impacto significativo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14447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000" dirty="0">
                <a:solidFill>
                  <a:schemeClr val="bg1"/>
                </a:solidFill>
              </a:rPr>
              <a:t>El curso de preparación para exámenes demuestra tener un impacto positivo significativo en el rendimiento académico, con una diferencia de aproximadamente 7.63 puntos entre los estudiantes que lo completaron y aquellos que no. Este resultado evidencia que este tipo de estrategias de apoyo académico contribuyen de manera efectiva a mejorar el desempeño estudiantil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2267712"/>
            <a:ext cx="859536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496312"/>
            <a:ext cx="640080" cy="640080"/>
          </a:xfrm>
          <a:prstGeom prst="ellipse">
            <a:avLst/>
          </a:prstGeom>
          <a:solidFill>
            <a:srgbClr val="21D4FD"/>
          </a:solidFill>
          <a:ln w="12700">
            <a:solidFill>
              <a:srgbClr val="21D4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963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70432" y="235915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educación de los padres = mejor rendimiento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270662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000" dirty="0">
                <a:solidFill>
                  <a:schemeClr val="bg1"/>
                </a:solidFill>
              </a:rPr>
              <a:t>Se observa una relación directa entre el nivel educativo de los padres y el rendimiento académico de los estudiantes. A medida que aumenta el nivel educativo parental, también lo hace el puntaje promedio, lo que sugiere que el contexto familiar influye de manera importante en los resultados académicos.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" y="3529584"/>
            <a:ext cx="859536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758184"/>
            <a:ext cx="640080" cy="64008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758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70432" y="362102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KPIs permiten monitorear y actuar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70432" y="396849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000" dirty="0">
                <a:solidFill>
                  <a:schemeClr val="bg1"/>
                </a:solidFill>
              </a:rPr>
              <a:t>El porcentaje de estudiantes en condición de bajo rendimiento alcanza el 28.5%, lo que representa una proporción considerable de la población analizada. Este resultado indica la necesidad de diseñar e implementar acciones de intervención académica orientadas a mejorar el desempeño de este grupo.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944</Words>
  <Application>Microsoft Office PowerPoint</Application>
  <PresentationFormat>Presentación en pantalla (16:9)</PresentationFormat>
  <Paragraphs>127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Students Performance in Exams</dc:title>
  <dc:subject>PptxGenJS Presentation</dc:subject>
  <dc:creator>PptxGenJS</dc:creator>
  <cp:lastModifiedBy>SEBASTIAN RIVERA MIRA</cp:lastModifiedBy>
  <cp:revision>2</cp:revision>
  <dcterms:created xsi:type="dcterms:W3CDTF">2026-04-27T23:44:53Z</dcterms:created>
  <dcterms:modified xsi:type="dcterms:W3CDTF">2026-04-28T00:04:53Z</dcterms:modified>
</cp:coreProperties>
</file>